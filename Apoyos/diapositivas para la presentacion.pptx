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2"/>
  </p:notesMasterIdLst>
  <p:sldIdLst>
    <p:sldId id="256" r:id="rId2"/>
    <p:sldId id="258" r:id="rId3"/>
    <p:sldId id="260" r:id="rId4"/>
    <p:sldId id="261" r:id="rId5"/>
    <p:sldId id="262" r:id="rId6"/>
    <p:sldId id="263" r:id="rId7"/>
    <p:sldId id="264" r:id="rId8"/>
    <p:sldId id="265" r:id="rId9"/>
    <p:sldId id="267" r:id="rId10"/>
    <p:sldId id="266" r:id="rId11"/>
  </p:sldIdLst>
  <p:sldSz cx="12192000" cy="6858000"/>
  <p:notesSz cx="6858000" cy="9144000"/>
  <p:embeddedFontLst>
    <p:embeddedFont>
      <p:font typeface="Urbanist" panose="020B0604020202020204" charset="0"/>
      <p:regular r:id="rId13"/>
      <p:bold r:id="rId14"/>
      <p:italic r:id="rId15"/>
      <p:boldItalic r:id="rId16"/>
    </p:embeddedFont>
    <p:embeddedFont>
      <p:font typeface="Urbanist SemiBold" panose="020B0604020202020204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04902DB-8753-4159-A397-3C27C6604C54}">
  <a:tblStyle styleId="{504902DB-8753-4159-A397-3C27C6604C54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78" y="105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16" name="Google Shape;21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>
          <a:extLst>
            <a:ext uri="{FF2B5EF4-FFF2-40B4-BE49-F238E27FC236}">
              <a16:creationId xmlns:a16="http://schemas.microsoft.com/office/drawing/2014/main" id="{35E74488-538B-D6AC-1C0B-5E830408D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1:notes">
            <a:extLst>
              <a:ext uri="{FF2B5EF4-FFF2-40B4-BE49-F238E27FC236}">
                <a16:creationId xmlns:a16="http://schemas.microsoft.com/office/drawing/2014/main" id="{8CB647BF-9A73-FB2C-EDE6-F04BCFC7FB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11:notes">
            <a:extLst>
              <a:ext uri="{FF2B5EF4-FFF2-40B4-BE49-F238E27FC236}">
                <a16:creationId xmlns:a16="http://schemas.microsoft.com/office/drawing/2014/main" id="{2D98D11D-AC0B-80BB-3F53-7315395621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974418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2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1809748" y="478251"/>
            <a:ext cx="8572500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 dirty="0">
                <a:solidFill>
                  <a:srgbClr val="92D050"/>
                </a:solidFill>
              </a:rPr>
              <a:t>Programación para el procesamiento de datos</a:t>
            </a:r>
            <a:endParaRPr sz="1800" dirty="0">
              <a:solidFill>
                <a:srgbClr val="92D050"/>
              </a:solidFill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1595436" y="1073572"/>
            <a:ext cx="9001125" cy="18281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Análisis</a:t>
            </a:r>
            <a:r>
              <a:rPr lang="en-US" sz="5400" b="1" i="0" u="none" strike="noStrike" cap="none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Global de </a:t>
            </a:r>
            <a:r>
              <a:rPr lang="en-US" sz="5400" b="1" i="0" u="none" strike="noStrike" cap="none" dirty="0">
                <a:solidFill>
                  <a:srgbClr val="92D050"/>
                </a:solidFill>
                <a:latin typeface="Urbanist"/>
                <a:ea typeface="Urbanist"/>
                <a:cs typeface="Urbanist"/>
                <a:sym typeface="Urbanist"/>
              </a:rPr>
              <a:t>Retail</a:t>
            </a:r>
            <a:r>
              <a:rPr lang="en-US" sz="5400" b="1" i="0" u="none" strike="noStrike" cap="none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y </a:t>
            </a:r>
            <a:r>
              <a:rPr lang="en-US" sz="5400" b="1" i="0" u="none" strike="noStrike" cap="none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Clientes</a:t>
            </a:r>
            <a:endParaRPr dirty="0"/>
          </a:p>
        </p:txBody>
      </p:sp>
      <p:sp>
        <p:nvSpPr>
          <p:cNvPr id="87" name="Google Shape;87;p13"/>
          <p:cNvSpPr/>
          <p:nvPr/>
        </p:nvSpPr>
        <p:spPr>
          <a:xfrm>
            <a:off x="5619748" y="5031099"/>
            <a:ext cx="952500" cy="190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1809749" y="5053087"/>
            <a:ext cx="8572500" cy="73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Optimización</a:t>
            </a:r>
            <a:r>
              <a:rPr lang="en-US" sz="1800" b="0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800" b="0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toma</a:t>
            </a:r>
            <a:r>
              <a:rPr lang="en-US" sz="1800" b="0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800" b="0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decisiones</a:t>
            </a:r>
            <a:r>
              <a:rPr lang="en-US" sz="1800" b="0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800" b="0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mediante</a:t>
            </a:r>
            <a:r>
              <a:rPr lang="en-US" sz="1800" b="0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Pipeline ETL </a:t>
            </a:r>
            <a:r>
              <a:rPr lang="en-US" sz="1800" b="0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Automático</a:t>
            </a:r>
            <a:r>
              <a:rPr lang="en-US" sz="1800" b="0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y </a:t>
            </a:r>
            <a:r>
              <a:rPr lang="en-US" sz="1800" b="0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Analítica</a:t>
            </a:r>
            <a:r>
              <a:rPr lang="en-US" sz="1800" b="0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800" b="0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Avanzada</a:t>
            </a:r>
            <a:endParaRPr dirty="0"/>
          </a:p>
        </p:txBody>
      </p:sp>
      <p:sp>
        <p:nvSpPr>
          <p:cNvPr id="2" name="Google Shape;88;p13">
            <a:extLst>
              <a:ext uri="{FF2B5EF4-FFF2-40B4-BE49-F238E27FC236}">
                <a16:creationId xmlns:a16="http://schemas.microsoft.com/office/drawing/2014/main" id="{5B79EE7D-DFF8-466C-6E3F-FDFED346C50A}"/>
              </a:ext>
            </a:extLst>
          </p:cNvPr>
          <p:cNvSpPr txBox="1"/>
          <p:nvPr/>
        </p:nvSpPr>
        <p:spPr>
          <a:xfrm>
            <a:off x="1595436" y="2955815"/>
            <a:ext cx="8572500" cy="2117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 dirty="0">
                <a:solidFill>
                  <a:schemeClr val="bg1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Integrantes del equipo:</a:t>
            </a:r>
          </a:p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 dirty="0">
                <a:solidFill>
                  <a:schemeClr val="bg1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Sebastián Manjarrez Morales</a:t>
            </a:r>
          </a:p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 dirty="0">
                <a:solidFill>
                  <a:schemeClr val="bg1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Héctor Manuel Corona Rodríguez</a:t>
            </a:r>
          </a:p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 dirty="0">
                <a:solidFill>
                  <a:schemeClr val="bg1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Luis Daniel Cabanillas Barrón</a:t>
            </a:r>
          </a:p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3057525"/>
            <a:ext cx="4943475" cy="1600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4848225"/>
            <a:ext cx="4943475" cy="16002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5"/>
          <p:cNvSpPr txBox="1"/>
          <p:nvPr/>
        </p:nvSpPr>
        <p:spPr>
          <a:xfrm>
            <a:off x="581025" y="771525"/>
            <a:ext cx="5190648" cy="11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DEFF9A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ARQUITECTURA DEL PIPELINE</a:t>
            </a:r>
            <a:endParaRPr/>
          </a:p>
        </p:txBody>
      </p:sp>
      <p:sp>
        <p:nvSpPr>
          <p:cNvPr id="104" name="Google Shape;104;p15"/>
          <p:cNvSpPr txBox="1"/>
          <p:nvPr/>
        </p:nvSpPr>
        <p:spPr>
          <a:xfrm>
            <a:off x="581025" y="2257425"/>
            <a:ext cx="49434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Nuestro ecosistema integra múltiples capas de procesamiento:</a:t>
            </a:r>
            <a:endParaRPr/>
          </a:p>
        </p:txBody>
      </p:sp>
      <p:sp>
        <p:nvSpPr>
          <p:cNvPr id="106" name="Google Shape;106;p15"/>
          <p:cNvSpPr txBox="1"/>
          <p:nvPr/>
        </p:nvSpPr>
        <p:spPr>
          <a:xfrm>
            <a:off x="904875" y="3343275"/>
            <a:ext cx="4550568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Ingesta Multifuente</a:t>
            </a:r>
            <a:endParaRPr/>
          </a:p>
        </p:txBody>
      </p:sp>
      <p:sp>
        <p:nvSpPr>
          <p:cNvPr id="107" name="Google Shape;107;p15"/>
          <p:cNvSpPr txBox="1"/>
          <p:nvPr/>
        </p:nvSpPr>
        <p:spPr>
          <a:xfrm>
            <a:off x="904875" y="3762375"/>
            <a:ext cx="433387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Conexión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simultánea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a SQLite (Ventas), MongoDB (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Perfiles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), API REST (Divisas) y Web Scraping.</a:t>
            </a:r>
            <a:endParaRPr dirty="0"/>
          </a:p>
        </p:txBody>
      </p:sp>
      <p:sp>
        <p:nvSpPr>
          <p:cNvPr id="108" name="Google Shape;108;p15"/>
          <p:cNvSpPr txBox="1"/>
          <p:nvPr/>
        </p:nvSpPr>
        <p:spPr>
          <a:xfrm>
            <a:off x="904875" y="5133975"/>
            <a:ext cx="4550568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Orquestación Centralizada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904875" y="5553075"/>
            <a:ext cx="43338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Flujo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ETL modular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en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Python que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transforma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datos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en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bruto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en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un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repositorio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maestro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listo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para BI.</a:t>
            </a:r>
            <a:endParaRPr dirty="0"/>
          </a:p>
        </p:txBody>
      </p:sp>
      <p:pic>
        <p:nvPicPr>
          <p:cNvPr id="1028" name="Picture 4" descr="ETL vs. ELT">
            <a:extLst>
              <a:ext uri="{FF2B5EF4-FFF2-40B4-BE49-F238E27FC236}">
                <a16:creationId xmlns:a16="http://schemas.microsoft.com/office/drawing/2014/main" id="{129DCD79-7B8B-8FEE-AF39-2C07D27599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0329" y="1772129"/>
            <a:ext cx="5486242" cy="34185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9528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045083" y="1828800"/>
            <a:ext cx="6160889" cy="34671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7"/>
          <p:cNvSpPr txBox="1"/>
          <p:nvPr/>
        </p:nvSpPr>
        <p:spPr>
          <a:xfrm>
            <a:off x="581025" y="581025"/>
            <a:ext cx="11581447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DEFF9A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ANÁLISIS DE CALIDAD Y VOLUMEN</a:t>
            </a:r>
            <a:endParaRPr/>
          </a:p>
        </p:txBody>
      </p:sp>
      <p:sp>
        <p:nvSpPr>
          <p:cNvPr id="137" name="Google Shape;137;p17"/>
          <p:cNvSpPr txBox="1"/>
          <p:nvPr/>
        </p:nvSpPr>
        <p:spPr>
          <a:xfrm>
            <a:off x="3492105" y="2152650"/>
            <a:ext cx="5828853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Estado </a:t>
            </a:r>
            <a:r>
              <a:rPr lang="en-US" sz="1800" b="1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Inicial</a:t>
            </a:r>
            <a:r>
              <a:rPr lang="en-US" sz="18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del Dato</a:t>
            </a:r>
            <a:endParaRPr dirty="0"/>
          </a:p>
        </p:txBody>
      </p:sp>
      <p:sp>
        <p:nvSpPr>
          <p:cNvPr id="138" name="Google Shape;138;p17"/>
          <p:cNvSpPr txBox="1"/>
          <p:nvPr/>
        </p:nvSpPr>
        <p:spPr>
          <a:xfrm>
            <a:off x="3492105" y="2571750"/>
            <a:ext cx="5551289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Identificamos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inconsistencias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críticas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en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el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inventario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endParaRPr dirty="0"/>
          </a:p>
        </p:txBody>
      </p:sp>
      <p:sp>
        <p:nvSpPr>
          <p:cNvPr id="141" name="Google Shape;141;p17"/>
          <p:cNvSpPr txBox="1"/>
          <p:nvPr/>
        </p:nvSpPr>
        <p:spPr>
          <a:xfrm>
            <a:off x="3873105" y="3067050"/>
            <a:ext cx="5170289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Duplicados</a:t>
            </a:r>
            <a:r>
              <a:rPr lang="en-US" sz="15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1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Transaccionales</a:t>
            </a:r>
            <a:r>
              <a:rPr lang="en-US" sz="15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Limpieza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en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SQL.</a:t>
            </a:r>
            <a:endParaRPr dirty="0"/>
          </a:p>
        </p:txBody>
      </p:sp>
      <p:sp>
        <p:nvSpPr>
          <p:cNvPr id="142" name="Google Shape;142;p17"/>
          <p:cNvSpPr txBox="1"/>
          <p:nvPr/>
        </p:nvSpPr>
        <p:spPr>
          <a:xfrm>
            <a:off x="3873105" y="3562350"/>
            <a:ext cx="5170289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Inconsistencia</a:t>
            </a:r>
            <a:r>
              <a:rPr lang="en-US" sz="15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500" b="1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Fechas</a:t>
            </a:r>
            <a:r>
              <a:rPr lang="en-US" sz="15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Formatos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DD/MM/YY vs ISO.</a:t>
            </a:r>
            <a:endParaRPr dirty="0"/>
          </a:p>
        </p:txBody>
      </p:sp>
      <p:sp>
        <p:nvSpPr>
          <p:cNvPr id="143" name="Google Shape;143;p17"/>
          <p:cNvSpPr txBox="1"/>
          <p:nvPr/>
        </p:nvSpPr>
        <p:spPr>
          <a:xfrm>
            <a:off x="3873105" y="4057650"/>
            <a:ext cx="5170289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Categorías</a:t>
            </a:r>
            <a:r>
              <a:rPr lang="en-US" sz="15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1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Sucias</a:t>
            </a:r>
            <a:r>
              <a:rPr lang="en-US" sz="15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Mapeo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de "MX" y "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mex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" a "México".</a:t>
            </a:r>
            <a:endParaRPr dirty="0"/>
          </a:p>
        </p:txBody>
      </p:sp>
      <p:sp>
        <p:nvSpPr>
          <p:cNvPr id="144" name="Google Shape;144;p17"/>
          <p:cNvSpPr txBox="1"/>
          <p:nvPr/>
        </p:nvSpPr>
        <p:spPr>
          <a:xfrm>
            <a:off x="3851123" y="4475246"/>
            <a:ext cx="517028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I</a:t>
            </a:r>
            <a:r>
              <a:rPr lang="en-US" sz="1500" b="1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dentificacio</a:t>
            </a:r>
            <a:r>
              <a:rPr lang="en-US" sz="1500" b="1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n</a:t>
            </a:r>
            <a:r>
              <a:rPr lang="en-US" sz="1500" b="1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500" b="1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nulos</a:t>
            </a:r>
            <a:r>
              <a:rPr lang="en-US" sz="15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Identificado</a:t>
            </a:r>
            <a:r>
              <a:rPr lang="en-US" sz="1500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</a:t>
            </a:r>
            <a:r>
              <a:rPr lang="en-US" sz="1500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en</a:t>
            </a:r>
            <a:r>
              <a:rPr lang="en-US" sz="1500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el</a:t>
            </a:r>
            <a:r>
              <a:rPr lang="en-US" sz="1500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inventario</a:t>
            </a:r>
            <a:r>
              <a:rPr lang="en-US" sz="1500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/>
          </a:p>
        </p:txBody>
      </p:sp>
      <p:pic>
        <p:nvPicPr>
          <p:cNvPr id="145" name="Google Shape;145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505922" y="314801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92105" y="356235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92105" y="405765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92105" y="4552950"/>
            <a:ext cx="190500" cy="200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Google Shape;153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18"/>
          <p:cNvSpPr txBox="1"/>
          <p:nvPr/>
        </p:nvSpPr>
        <p:spPr>
          <a:xfrm>
            <a:off x="581025" y="581025"/>
            <a:ext cx="11581447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DEFF9A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DICCIONARIO DE DATOS MAESTRO</a:t>
            </a:r>
            <a:endParaRPr/>
          </a:p>
        </p:txBody>
      </p:sp>
      <p:graphicFrame>
        <p:nvGraphicFramePr>
          <p:cNvPr id="155" name="Google Shape;155;p18"/>
          <p:cNvGraphicFramePr/>
          <p:nvPr>
            <p:extLst>
              <p:ext uri="{D42A27DB-BD31-4B8C-83A1-F6EECF244321}">
                <p14:modId xmlns:p14="http://schemas.microsoft.com/office/powerpoint/2010/main" val="518479429"/>
              </p:ext>
            </p:extLst>
          </p:nvPr>
        </p:nvGraphicFramePr>
        <p:xfrm>
          <a:off x="641684" y="2247900"/>
          <a:ext cx="10277275" cy="3486125"/>
        </p:xfrm>
        <a:graphic>
          <a:graphicData uri="http://schemas.openxmlformats.org/drawingml/2006/table">
            <a:tbl>
              <a:tblPr firstRow="1" bandRow="1">
                <a:noFill/>
                <a:tableStyleId>{504902DB-8753-4159-A397-3C27C6604C54}</a:tableStyleId>
              </a:tblPr>
              <a:tblGrid>
                <a:gridCol w="1739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6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31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972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Variable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Tipo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Descripción Técnica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7225">
                <a:tc>
                  <a:txBody>
                    <a:bodyPr/>
                    <a:lstStyle/>
                    <a:p>
                      <a:r>
                        <a:rPr lang="es-MX" sz="1600" b="0" i="0" u="none" strike="noStrike" cap="none" dirty="0" err="1">
                          <a:solidFill>
                            <a:schemeClr val="dk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Arial"/>
                        </a:rPr>
                        <a:t>id_cliente</a:t>
                      </a:r>
                      <a:endParaRPr lang="es-MX" sz="1600" b="0" i="0" u="none" strike="noStrike" cap="none" dirty="0">
                        <a:solidFill>
                          <a:schemeClr val="dk1"/>
                        </a:solidFill>
                        <a:effectLst/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Primary Key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Llave de </a:t>
                      </a:r>
                      <a:r>
                        <a:rPr lang="en-US" sz="1500" b="0" i="0" u="none" strike="noStrike" cap="none" dirty="0" err="1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unión</a:t>
                      </a:r>
                      <a:r>
                        <a:rPr lang="en-US" sz="1500" b="0" i="0" u="none" strike="noStrike" cap="none" dirty="0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entre Ventas (SQL) y </a:t>
                      </a:r>
                      <a:r>
                        <a:rPr lang="en-US" sz="1500" b="0" i="0" u="none" strike="noStrike" cap="none" dirty="0" err="1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Perfiles</a:t>
                      </a:r>
                      <a:r>
                        <a:rPr lang="en-US" sz="1500" b="0" i="0" u="none" strike="noStrike" cap="none" dirty="0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(</a:t>
                      </a:r>
                      <a:r>
                        <a:rPr lang="en-US" sz="1500" b="0" i="0" u="none" strike="noStrike" cap="none" dirty="0" err="1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mongoDB</a:t>
                      </a:r>
                      <a:r>
                        <a:rPr lang="en-US" sz="1500" b="0" i="0" u="none" strike="noStrike" cap="none" dirty="0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).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72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Timestamp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Datetime64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err="1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Fechas</a:t>
                      </a:r>
                      <a:r>
                        <a:rPr lang="en-US" sz="1500" b="0" i="0" u="none" strike="noStrike" cap="none" dirty="0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</a:t>
                      </a:r>
                      <a:r>
                        <a:rPr lang="en-US" sz="1500" b="0" i="0" u="none" strike="noStrike" cap="none" dirty="0" err="1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normalizadas</a:t>
                      </a:r>
                      <a:r>
                        <a:rPr lang="en-US" sz="1500" b="0" i="0" u="none" strike="noStrike" cap="none" dirty="0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para </a:t>
                      </a:r>
                      <a:r>
                        <a:rPr lang="en-US" sz="1500" b="0" i="0" u="none" strike="noStrike" cap="none" dirty="0" err="1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análisis</a:t>
                      </a:r>
                      <a:r>
                        <a:rPr lang="en-US" sz="1500" b="0" i="0" u="none" strike="noStrike" cap="none" dirty="0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temporal </a:t>
                      </a:r>
                      <a:r>
                        <a:rPr lang="en-US" sz="1500" b="0" i="0" u="none" strike="noStrike" cap="none" dirty="0" err="1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coherente</a:t>
                      </a:r>
                      <a:r>
                        <a:rPr lang="en-US" sz="1500" b="0" i="0" u="none" strike="noStrike" cap="none" dirty="0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.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72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err="1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segmento_cliente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err="1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Categorica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Variable </a:t>
                      </a:r>
                      <a:r>
                        <a:rPr lang="en-US" sz="1500" b="0" i="0" u="none" strike="noStrike" cap="none" dirty="0" err="1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derivada</a:t>
                      </a:r>
                      <a:r>
                        <a:rPr lang="en-US" sz="1500" b="0" i="0" u="none" strike="noStrike" cap="none" dirty="0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</a:t>
                      </a:r>
                      <a:r>
                        <a:rPr lang="en-US" sz="1500" b="0" i="0" u="none" strike="noStrike" cap="none" dirty="0" err="1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mediante</a:t>
                      </a:r>
                      <a:r>
                        <a:rPr lang="en-US" sz="1500" b="0" i="0" u="none" strike="noStrike" cap="none" dirty="0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</a:t>
                      </a:r>
                      <a:r>
                        <a:rPr lang="en-US" sz="1500" b="0" i="0" u="none" strike="noStrike" cap="none" dirty="0" err="1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reglas</a:t>
                      </a:r>
                      <a:r>
                        <a:rPr lang="en-US" sz="1500" b="0" i="0" u="none" strike="noStrike" cap="none" dirty="0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de </a:t>
                      </a:r>
                      <a:r>
                        <a:rPr lang="en-US" sz="1500" b="0" i="0" u="none" strike="noStrike" cap="none" dirty="0" err="1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negocio</a:t>
                      </a:r>
                      <a:r>
                        <a:rPr lang="en-US" sz="1500" b="0" i="0" u="none" strike="noStrike" cap="none" dirty="0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</a:t>
                      </a:r>
                      <a:r>
                        <a:rPr lang="en-US" sz="1500" b="0" i="0" u="none" strike="noStrike" cap="none" dirty="0" err="1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avanzadas</a:t>
                      </a:r>
                      <a:r>
                        <a:rPr lang="en-US" sz="1500" b="0" i="0" u="none" strike="noStrike" cap="none" dirty="0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.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7225">
                <a:tc>
                  <a:txBody>
                    <a:bodyPr/>
                    <a:lstStyle/>
                    <a:p>
                      <a:r>
                        <a:rPr lang="pl-PL" sz="15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Urbanist" panose="020B0604020202020204" charset="0"/>
                          <a:ea typeface="Urbanist" panose="020B0604020202020204" charset="0"/>
                          <a:cs typeface="Urbanist" panose="020B0604020202020204" charset="0"/>
                          <a:sym typeface="Arial"/>
                        </a:rPr>
                        <a:t>pca_1</a:t>
                      </a:r>
                      <a:r>
                        <a:rPr lang="es-MX" sz="15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Urbanist" panose="020B0604020202020204" charset="0"/>
                          <a:ea typeface="Urbanist" panose="020B0604020202020204" charset="0"/>
                          <a:cs typeface="Urbanist" panose="020B0604020202020204" charset="0"/>
                          <a:sym typeface="Arial"/>
                        </a:rPr>
                        <a:t>,</a:t>
                      </a:r>
                      <a:r>
                        <a:rPr lang="pl-PL" sz="15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Urbanist" panose="020B0604020202020204" charset="0"/>
                          <a:ea typeface="Urbanist" panose="020B0604020202020204" charset="0"/>
                          <a:cs typeface="Urbanist" panose="020B0604020202020204" charset="0"/>
                          <a:sym typeface="Arial"/>
                        </a:rPr>
                        <a:t>pca_2</a:t>
                      </a:r>
                      <a:r>
                        <a:rPr lang="es-MX" sz="15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Urbanist" panose="020B0604020202020204" charset="0"/>
                          <a:ea typeface="Urbanist" panose="020B0604020202020204" charset="0"/>
                          <a:cs typeface="Urbanist" panose="020B0604020202020204" charset="0"/>
                          <a:sym typeface="Arial"/>
                        </a:rPr>
                        <a:t>,</a:t>
                      </a:r>
                      <a:r>
                        <a:rPr lang="pl-PL" sz="15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Urbanist" panose="020B0604020202020204" charset="0"/>
                          <a:ea typeface="Urbanist" panose="020B0604020202020204" charset="0"/>
                          <a:cs typeface="Urbanist" panose="020B0604020202020204" charset="0"/>
                          <a:sym typeface="Arial"/>
                        </a:rPr>
                        <a:t>pca_3</a:t>
                      </a: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Float (Scale)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err="1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Vectores</a:t>
                      </a:r>
                      <a:r>
                        <a:rPr lang="en-US" sz="1500" b="0" i="0" u="none" strike="noStrike" cap="none" dirty="0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de </a:t>
                      </a:r>
                      <a:r>
                        <a:rPr lang="en-US" sz="1500" b="0" i="0" u="none" strike="noStrike" cap="none" dirty="0" err="1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comportamiento</a:t>
                      </a:r>
                      <a:r>
                        <a:rPr lang="en-US" sz="1500" b="0" i="0" u="none" strike="noStrike" cap="none" dirty="0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</a:t>
                      </a:r>
                      <a:r>
                        <a:rPr lang="en-US" sz="1500" b="0" i="0" u="none" strike="noStrike" cap="none" dirty="0" err="1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reducidos</a:t>
                      </a:r>
                      <a:r>
                        <a:rPr lang="en-US" sz="1500" b="0" i="0" u="none" strike="noStrike" cap="none" dirty="0">
                          <a:solidFill>
                            <a:schemeClr val="tx1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 para clustering.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6" name="Google Shape;156;p18"/>
          <p:cNvSpPr/>
          <p:nvPr/>
        </p:nvSpPr>
        <p:spPr>
          <a:xfrm>
            <a:off x="581025" y="2924175"/>
            <a:ext cx="2492573" cy="1905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8"/>
          <p:cNvSpPr/>
          <p:nvPr/>
        </p:nvSpPr>
        <p:spPr>
          <a:xfrm>
            <a:off x="3073598" y="2924175"/>
            <a:ext cx="1806178" cy="1905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8"/>
          <p:cNvSpPr/>
          <p:nvPr/>
        </p:nvSpPr>
        <p:spPr>
          <a:xfrm>
            <a:off x="4879776" y="2924175"/>
            <a:ext cx="6731198" cy="1905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8"/>
          <p:cNvSpPr/>
          <p:nvPr/>
        </p:nvSpPr>
        <p:spPr>
          <a:xfrm>
            <a:off x="581025" y="3633787"/>
            <a:ext cx="24925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8"/>
          <p:cNvSpPr/>
          <p:nvPr/>
        </p:nvSpPr>
        <p:spPr>
          <a:xfrm>
            <a:off x="3073598" y="3633787"/>
            <a:ext cx="1806178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8"/>
          <p:cNvSpPr/>
          <p:nvPr/>
        </p:nvSpPr>
        <p:spPr>
          <a:xfrm>
            <a:off x="4879776" y="3633787"/>
            <a:ext cx="6731198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8"/>
          <p:cNvSpPr/>
          <p:nvPr/>
        </p:nvSpPr>
        <p:spPr>
          <a:xfrm>
            <a:off x="581025" y="4329112"/>
            <a:ext cx="24925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8"/>
          <p:cNvSpPr/>
          <p:nvPr/>
        </p:nvSpPr>
        <p:spPr>
          <a:xfrm>
            <a:off x="3073598" y="4329112"/>
            <a:ext cx="1806178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8"/>
          <p:cNvSpPr/>
          <p:nvPr/>
        </p:nvSpPr>
        <p:spPr>
          <a:xfrm>
            <a:off x="4879776" y="4329112"/>
            <a:ext cx="6731198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8"/>
          <p:cNvSpPr/>
          <p:nvPr/>
        </p:nvSpPr>
        <p:spPr>
          <a:xfrm>
            <a:off x="581025" y="5024437"/>
            <a:ext cx="24925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8"/>
          <p:cNvSpPr/>
          <p:nvPr/>
        </p:nvSpPr>
        <p:spPr>
          <a:xfrm>
            <a:off x="3073598" y="5024437"/>
            <a:ext cx="1806178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8"/>
          <p:cNvSpPr/>
          <p:nvPr/>
        </p:nvSpPr>
        <p:spPr>
          <a:xfrm>
            <a:off x="4879776" y="5024437"/>
            <a:ext cx="6731198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8"/>
          <p:cNvSpPr/>
          <p:nvPr/>
        </p:nvSpPr>
        <p:spPr>
          <a:xfrm>
            <a:off x="581025" y="5719762"/>
            <a:ext cx="24925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8"/>
          <p:cNvSpPr/>
          <p:nvPr/>
        </p:nvSpPr>
        <p:spPr>
          <a:xfrm>
            <a:off x="3073598" y="5719762"/>
            <a:ext cx="1806178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8"/>
          <p:cNvSpPr/>
          <p:nvPr/>
        </p:nvSpPr>
        <p:spPr>
          <a:xfrm>
            <a:off x="4879776" y="5719762"/>
            <a:ext cx="6731198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9528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19"/>
          <p:cNvSpPr txBox="1"/>
          <p:nvPr/>
        </p:nvSpPr>
        <p:spPr>
          <a:xfrm>
            <a:off x="581025" y="581025"/>
            <a:ext cx="11581447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DEFF9A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FASE 1: LIMPIEZA Y NORMALIZACIÓN</a:t>
            </a:r>
            <a:endParaRPr/>
          </a:p>
        </p:txBody>
      </p:sp>
      <p:sp>
        <p:nvSpPr>
          <p:cNvPr id="178" name="Google Shape;178;p19"/>
          <p:cNvSpPr txBox="1"/>
          <p:nvPr/>
        </p:nvSpPr>
        <p:spPr>
          <a:xfrm>
            <a:off x="581025" y="2247900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La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estabilidad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del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análisis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depende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de la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estandarización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radical de las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escalas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endParaRPr dirty="0"/>
          </a:p>
        </p:txBody>
      </p:sp>
      <p:sp>
        <p:nvSpPr>
          <p:cNvPr id="180" name="Google Shape;180;p19"/>
          <p:cNvSpPr txBox="1"/>
          <p:nvPr/>
        </p:nvSpPr>
        <p:spPr>
          <a:xfrm>
            <a:off x="962025" y="3143250"/>
            <a:ext cx="48482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Manejo de Nulos:</a:t>
            </a: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Imputación por mediana para precios y ceros para stock.</a:t>
            </a:r>
            <a:endParaRPr/>
          </a:p>
        </p:txBody>
      </p:sp>
      <p:sp>
        <p:nvSpPr>
          <p:cNvPr id="181" name="Google Shape;181;p19"/>
          <p:cNvSpPr txBox="1"/>
          <p:nvPr/>
        </p:nvSpPr>
        <p:spPr>
          <a:xfrm>
            <a:off x="962025" y="3943350"/>
            <a:ext cx="48482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Parsing de Logs: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Uso de </a:t>
            </a:r>
            <a:r>
              <a:rPr lang="en-US" sz="1500" b="1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RegEx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para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extraer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IPs,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métodos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y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tiempos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respuesta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(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ms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).</a:t>
            </a:r>
            <a:endParaRPr dirty="0"/>
          </a:p>
        </p:txBody>
      </p:sp>
      <p:sp>
        <p:nvSpPr>
          <p:cNvPr id="182" name="Google Shape;182;p19"/>
          <p:cNvSpPr txBox="1"/>
          <p:nvPr/>
        </p:nvSpPr>
        <p:spPr>
          <a:xfrm>
            <a:off x="962025" y="4743450"/>
            <a:ext cx="484822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Escalado</a:t>
            </a:r>
            <a:r>
              <a:rPr lang="en-US" sz="15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Z-score: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Preparación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de variables de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ingresos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y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lealtad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para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evitar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sesgos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en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el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PCA.</a:t>
            </a:r>
            <a:endParaRPr dirty="0"/>
          </a:p>
        </p:txBody>
      </p:sp>
      <p:pic>
        <p:nvPicPr>
          <p:cNvPr id="183" name="Google Shape;183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314325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394335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474345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4A348AD6-0681-230B-692B-3A75F4A524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1747" y="1440624"/>
            <a:ext cx="5229225" cy="1111318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E9160D89-19D7-C7D6-07F8-CE56B475CF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1747" y="2713489"/>
            <a:ext cx="5723469" cy="159257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921853E1-C53E-C019-EF08-A7BB5AE67D3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9599" y="4479754"/>
            <a:ext cx="5201376" cy="828791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CD4ABA7B-5B1E-CB36-40C9-A79B4942CBE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9599" y="5417376"/>
            <a:ext cx="3831631" cy="9818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Google Shape;190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29528" y="-10528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57173" y="1695450"/>
            <a:ext cx="5535531" cy="39804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134099" y="1714499"/>
            <a:ext cx="5608721" cy="3980447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0"/>
          <p:cNvSpPr txBox="1"/>
          <p:nvPr/>
        </p:nvSpPr>
        <p:spPr>
          <a:xfrm>
            <a:off x="581025" y="581025"/>
            <a:ext cx="11581447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DEFF9A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FASE 2: ENRIQUECIMIENTO Y LÓGICA</a:t>
            </a:r>
            <a:endParaRPr dirty="0"/>
          </a:p>
        </p:txBody>
      </p:sp>
      <p:pic>
        <p:nvPicPr>
          <p:cNvPr id="194" name="Google Shape;194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3" y="1981200"/>
            <a:ext cx="323740" cy="363696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0"/>
          <p:cNvSpPr txBox="1"/>
          <p:nvPr/>
        </p:nvSpPr>
        <p:spPr>
          <a:xfrm>
            <a:off x="581023" y="2514600"/>
            <a:ext cx="515202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Merging Multifuente</a:t>
            </a:r>
            <a:endParaRPr/>
          </a:p>
        </p:txBody>
      </p:sp>
      <p:sp>
        <p:nvSpPr>
          <p:cNvPr id="196" name="Google Shape;196;p20"/>
          <p:cNvSpPr txBox="1"/>
          <p:nvPr/>
        </p:nvSpPr>
        <p:spPr>
          <a:xfrm>
            <a:off x="581023" y="2933700"/>
            <a:ext cx="4906686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Ejecución de un </a:t>
            </a:r>
            <a:r>
              <a:rPr lang="en-US" sz="15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Left Join</a:t>
            </a: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masivo en Pandas uniendo transacciones con perfiles psicográficos, enriqueciendo cada venta con datos de edad y preferencias.</a:t>
            </a:r>
            <a:endParaRPr/>
          </a:p>
        </p:txBody>
      </p:sp>
      <p:pic>
        <p:nvPicPr>
          <p:cNvPr id="197" name="Google Shape;197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57950" y="2000250"/>
            <a:ext cx="34290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20"/>
          <p:cNvSpPr txBox="1"/>
          <p:nvPr/>
        </p:nvSpPr>
        <p:spPr>
          <a:xfrm>
            <a:off x="6457950" y="2533650"/>
            <a:ext cx="4850606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Reglas de Negocio</a:t>
            </a:r>
            <a:endParaRPr/>
          </a:p>
        </p:txBody>
      </p:sp>
      <p:sp>
        <p:nvSpPr>
          <p:cNvPr id="199" name="Google Shape;199;p20"/>
          <p:cNvSpPr txBox="1"/>
          <p:nvPr/>
        </p:nvSpPr>
        <p:spPr>
          <a:xfrm>
            <a:off x="6457950" y="2952750"/>
            <a:ext cx="46196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Implementación de lógica np.where para segmentación dinámica:</a:t>
            </a: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D845364-0BE2-5E8A-5066-9B7AD3C9A2B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7950" y="3731102"/>
            <a:ext cx="4314422" cy="175529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7C54C97C-F5F8-F068-62A2-E2876AEFA09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9608" y="4327336"/>
            <a:ext cx="5250659" cy="106291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" name="Google Shape;205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097" y="-29766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3399234"/>
            <a:ext cx="2695723" cy="907256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1"/>
          <p:cNvSpPr txBox="1"/>
          <p:nvPr/>
        </p:nvSpPr>
        <p:spPr>
          <a:xfrm>
            <a:off x="581025" y="581025"/>
            <a:ext cx="11581447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DEFF9A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ANALÍTICA: REDUCCIÓN DE DIMENSIÓN</a:t>
            </a:r>
            <a:endParaRPr dirty="0"/>
          </a:p>
        </p:txBody>
      </p:sp>
      <p:sp>
        <p:nvSpPr>
          <p:cNvPr id="209" name="Google Shape;209;p21"/>
          <p:cNvSpPr txBox="1"/>
          <p:nvPr/>
        </p:nvSpPr>
        <p:spPr>
          <a:xfrm>
            <a:off x="6381750" y="2380059"/>
            <a:ext cx="5490686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Modelado con PCA</a:t>
            </a:r>
            <a:endParaRPr/>
          </a:p>
        </p:txBody>
      </p:sp>
      <p:sp>
        <p:nvSpPr>
          <p:cNvPr id="210" name="Google Shape;210;p21"/>
          <p:cNvSpPr txBox="1"/>
          <p:nvPr/>
        </p:nvSpPr>
        <p:spPr>
          <a:xfrm>
            <a:off x="6381750" y="2599134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Simplificamos un set de </a:t>
            </a:r>
            <a:r>
              <a:rPr lang="en-US" sz="15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20 variables de comportamiento</a:t>
            </a: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en solo 3 componentes principales.</a:t>
            </a:r>
            <a:endParaRPr/>
          </a:p>
        </p:txBody>
      </p:sp>
      <p:sp>
        <p:nvSpPr>
          <p:cNvPr id="211" name="Google Shape;211;p21"/>
          <p:cNvSpPr txBox="1"/>
          <p:nvPr/>
        </p:nvSpPr>
        <p:spPr>
          <a:xfrm>
            <a:off x="6381750" y="4496990"/>
            <a:ext cx="5229225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Gracias a 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Kmeans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nos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permite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visualizar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clusters de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clientes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en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un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espacio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tridimensional sin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perder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la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esencia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estadística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del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dato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original.</a:t>
            </a:r>
            <a:endParaRPr dirty="0"/>
          </a:p>
        </p:txBody>
      </p:sp>
      <p:pic>
        <p:nvPicPr>
          <p:cNvPr id="213" name="Google Shape;213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667499" y="3677840"/>
            <a:ext cx="2179321" cy="39124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873EF5DD-CC96-64EE-71BC-E6EAEDAB2F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47" y="2126239"/>
            <a:ext cx="5810250" cy="310320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8" name="Google Shape;218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9528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990725"/>
            <a:ext cx="3549550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21075" y="1990725"/>
            <a:ext cx="3549699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61275" y="1990725"/>
            <a:ext cx="3549550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22"/>
          <p:cNvSpPr txBox="1"/>
          <p:nvPr/>
        </p:nvSpPr>
        <p:spPr>
          <a:xfrm>
            <a:off x="581025" y="581025"/>
            <a:ext cx="11581447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DEFF9A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DASHBOARD DE VISUALIZACIÓN</a:t>
            </a:r>
            <a:endParaRPr dirty="0"/>
          </a:p>
        </p:txBody>
      </p:sp>
      <p:sp>
        <p:nvSpPr>
          <p:cNvPr id="226" name="Google Shape;226;p22"/>
          <p:cNvSpPr txBox="1"/>
          <p:nvPr/>
        </p:nvSpPr>
        <p:spPr>
          <a:xfrm>
            <a:off x="714375" y="4562475"/>
            <a:ext cx="3486998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Detección</a:t>
            </a:r>
            <a:r>
              <a:rPr lang="en-US" sz="135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de Outliers</a:t>
            </a:r>
            <a:endParaRPr dirty="0"/>
          </a:p>
        </p:txBody>
      </p:sp>
      <p:sp>
        <p:nvSpPr>
          <p:cNvPr id="227" name="Google Shape;227;p22"/>
          <p:cNvSpPr txBox="1"/>
          <p:nvPr/>
        </p:nvSpPr>
        <p:spPr>
          <a:xfrm>
            <a:off x="714375" y="4914900"/>
            <a:ext cx="3320950" cy="426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Identificación de anomalías en montos de venta regionales.</a:t>
            </a:r>
            <a:endParaRPr/>
          </a:p>
        </p:txBody>
      </p:sp>
      <p:sp>
        <p:nvSpPr>
          <p:cNvPr id="228" name="Google Shape;228;p22"/>
          <p:cNvSpPr txBox="1"/>
          <p:nvPr/>
        </p:nvSpPr>
        <p:spPr>
          <a:xfrm>
            <a:off x="4454425" y="4658727"/>
            <a:ext cx="3487154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Flujo</a:t>
            </a:r>
            <a:r>
              <a:rPr lang="en-US" sz="135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350" b="1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Conversión</a:t>
            </a:r>
            <a:endParaRPr dirty="0"/>
          </a:p>
        </p:txBody>
      </p:sp>
      <p:sp>
        <p:nvSpPr>
          <p:cNvPr id="229" name="Google Shape;229;p22"/>
          <p:cNvSpPr txBox="1"/>
          <p:nvPr/>
        </p:nvSpPr>
        <p:spPr>
          <a:xfrm>
            <a:off x="4454425" y="4914900"/>
            <a:ext cx="3321099" cy="213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Embudo desde logs de servidor hasta la compra final.</a:t>
            </a:r>
            <a:endParaRPr/>
          </a:p>
        </p:txBody>
      </p:sp>
      <p:sp>
        <p:nvSpPr>
          <p:cNvPr id="230" name="Google Shape;230;p22"/>
          <p:cNvSpPr txBox="1"/>
          <p:nvPr/>
        </p:nvSpPr>
        <p:spPr>
          <a:xfrm>
            <a:off x="8194625" y="4562475"/>
            <a:ext cx="3486998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Clustering PCA</a:t>
            </a:r>
            <a:endParaRPr/>
          </a:p>
        </p:txBody>
      </p:sp>
      <p:sp>
        <p:nvSpPr>
          <p:cNvPr id="231" name="Google Shape;231;p22"/>
          <p:cNvSpPr txBox="1"/>
          <p:nvPr/>
        </p:nvSpPr>
        <p:spPr>
          <a:xfrm>
            <a:off x="8194625" y="4914900"/>
            <a:ext cx="3320950" cy="213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Visualización de los 3 arquetipos de cliente detectados.</a:t>
            </a: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2ABC3F7-7AEB-95FF-3525-6018B31C72B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06244" y="2085975"/>
            <a:ext cx="2379512" cy="2430139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A28E7453-8565-A768-1B64-8A9498E4F40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0297" y="2195681"/>
            <a:ext cx="2670075" cy="2223919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45E65FA3-1621-DE5C-03F6-5BE2562160E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35700" y="2085975"/>
            <a:ext cx="2716003" cy="230896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38">
          <a:extLst>
            <a:ext uri="{FF2B5EF4-FFF2-40B4-BE49-F238E27FC236}">
              <a16:creationId xmlns:a16="http://schemas.microsoft.com/office/drawing/2014/main" id="{F93A0E7E-FBEC-3B2B-B510-46FAE4F47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23">
            <a:extLst>
              <a:ext uri="{FF2B5EF4-FFF2-40B4-BE49-F238E27FC236}">
                <a16:creationId xmlns:a16="http://schemas.microsoft.com/office/drawing/2014/main" id="{FC6C6DC1-EA76-7374-41C6-82C5CB8A8EC3}"/>
              </a:ext>
            </a:extLst>
          </p:cNvPr>
          <p:cNvSpPr txBox="1"/>
          <p:nvPr/>
        </p:nvSpPr>
        <p:spPr>
          <a:xfrm>
            <a:off x="305276" y="548941"/>
            <a:ext cx="1158144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 err="1">
                <a:solidFill>
                  <a:srgbClr val="DEFF9A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Conclusiones</a:t>
            </a:r>
            <a:r>
              <a:rPr lang="en-US" sz="3600" dirty="0">
                <a:solidFill>
                  <a:srgbClr val="DEFF9A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 y </a:t>
            </a:r>
            <a:r>
              <a:rPr lang="en-US" sz="3600" dirty="0" err="1">
                <a:solidFill>
                  <a:srgbClr val="DEFF9A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salida</a:t>
            </a:r>
            <a:r>
              <a:rPr lang="en-US" sz="3600" dirty="0">
                <a:solidFill>
                  <a:srgbClr val="DEFF9A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 de </a:t>
            </a:r>
            <a:r>
              <a:rPr lang="en-US" sz="3600" dirty="0" err="1">
                <a:solidFill>
                  <a:srgbClr val="DEFF9A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datos</a:t>
            </a:r>
            <a:endParaRPr lang="en-US" sz="36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078B658-BCB0-DF12-1501-4B93D7EBB6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935" y="1358051"/>
            <a:ext cx="9270004" cy="2315591"/>
          </a:xfrm>
          <a:prstGeom prst="rect">
            <a:avLst/>
          </a:prstGeom>
        </p:spPr>
      </p:pic>
      <p:sp>
        <p:nvSpPr>
          <p:cNvPr id="4" name="Google Shape;138;p17">
            <a:extLst>
              <a:ext uri="{FF2B5EF4-FFF2-40B4-BE49-F238E27FC236}">
                <a16:creationId xmlns:a16="http://schemas.microsoft.com/office/drawing/2014/main" id="{44539190-B82B-D93F-DB7D-F67C9AEDCFE8}"/>
              </a:ext>
            </a:extLst>
          </p:cNvPr>
          <p:cNvSpPr txBox="1"/>
          <p:nvPr/>
        </p:nvSpPr>
        <p:spPr>
          <a:xfrm>
            <a:off x="674935" y="3928754"/>
            <a:ext cx="10474328" cy="787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chemeClr val="bg1"/>
                </a:solidFill>
              </a:rPr>
              <a:t>Con esta arquitectura, hemos pasado de tener datos aislados en diferentes formatos a tener un Única Fuente de Verdad, optimizado para análisis masivo y listo para escalar conforme el negocio crezca.</a:t>
            </a:r>
            <a:endParaRPr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89943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23"/>
          <p:cNvSpPr txBox="1"/>
          <p:nvPr/>
        </p:nvSpPr>
        <p:spPr>
          <a:xfrm>
            <a:off x="581025" y="581025"/>
            <a:ext cx="11581447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DEFF9A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RETOS Y SOLUCIONES TÉCNICAS</a:t>
            </a:r>
            <a:endParaRPr/>
          </a:p>
        </p:txBody>
      </p:sp>
      <p:sp>
        <p:nvSpPr>
          <p:cNvPr id="241" name="Google Shape;241;p23"/>
          <p:cNvSpPr txBox="1"/>
          <p:nvPr/>
        </p:nvSpPr>
        <p:spPr>
          <a:xfrm>
            <a:off x="962025" y="2290762"/>
            <a:ext cx="1064895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Asginacion</a:t>
            </a:r>
            <a:r>
              <a:rPr lang="en-US" sz="15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500" b="1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los</a:t>
            </a:r>
            <a:r>
              <a:rPr lang="en-US" sz="15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1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datos</a:t>
            </a:r>
            <a:r>
              <a:rPr lang="en-US" sz="15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: </a:t>
            </a:r>
            <a:r>
              <a:rPr lang="en-US" sz="1500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Complicaciones</a:t>
            </a:r>
            <a:r>
              <a:rPr lang="en-US" sz="1500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a la hora de </a:t>
            </a:r>
            <a:r>
              <a:rPr lang="en-US" sz="1500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generar</a:t>
            </a:r>
            <a:r>
              <a:rPr lang="en-US" sz="1500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los</a:t>
            </a:r>
            <a:r>
              <a:rPr lang="en-US" sz="1500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datos</a:t>
            </a:r>
            <a:r>
              <a:rPr lang="en-US" sz="1500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y que </a:t>
            </a:r>
            <a:r>
              <a:rPr lang="en-US" sz="1500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su</a:t>
            </a:r>
            <a:r>
              <a:rPr lang="en-US" sz="1500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funcionamiento</a:t>
            </a:r>
            <a:r>
              <a:rPr lang="en-US" sz="1500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destinado</a:t>
            </a:r>
            <a:r>
              <a:rPr lang="en-US" sz="1500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fuera </a:t>
            </a:r>
            <a:r>
              <a:rPr lang="en-US" sz="1500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correcto</a:t>
            </a:r>
            <a:r>
              <a:rPr lang="en-US" sz="1500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en</a:t>
            </a:r>
            <a:r>
              <a:rPr lang="en-US" sz="1500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la </a:t>
            </a:r>
            <a:r>
              <a:rPr lang="en-US" sz="1500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ejecucion</a:t>
            </a:r>
            <a:r>
              <a:rPr lang="en-US" sz="1500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, s</a:t>
            </a:r>
            <a:r>
              <a:rPr lang="en-US" sz="1500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e </a:t>
            </a:r>
            <a:r>
              <a:rPr lang="en-US" sz="1500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soluciono</a:t>
            </a:r>
            <a:r>
              <a:rPr lang="en-US" sz="1500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buscando</a:t>
            </a:r>
            <a:r>
              <a:rPr lang="en-US" sz="1500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una</a:t>
            </a:r>
            <a:r>
              <a:rPr lang="en-US" sz="1500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major </a:t>
            </a:r>
            <a:r>
              <a:rPr lang="en-US" sz="1500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estructura</a:t>
            </a:r>
            <a:r>
              <a:rPr lang="en-US" sz="1500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para </a:t>
            </a:r>
            <a:r>
              <a:rPr lang="en-US" sz="1500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los</a:t>
            </a:r>
            <a:r>
              <a:rPr lang="en-US" sz="1500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datos</a:t>
            </a:r>
            <a:r>
              <a:rPr lang="en-US" sz="1500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al </a:t>
            </a:r>
            <a:r>
              <a:rPr lang="en-US" sz="1500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momento</a:t>
            </a:r>
            <a:r>
              <a:rPr lang="en-US" sz="1500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500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generarlos</a:t>
            </a:r>
            <a:r>
              <a:rPr lang="en-US" sz="1500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/>
          </a:p>
        </p:txBody>
      </p:sp>
      <p:sp>
        <p:nvSpPr>
          <p:cNvPr id="242" name="Google Shape;242;p23"/>
          <p:cNvSpPr txBox="1"/>
          <p:nvPr/>
        </p:nvSpPr>
        <p:spPr>
          <a:xfrm>
            <a:off x="962025" y="3090862"/>
            <a:ext cx="1064895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Entendimiento</a:t>
            </a:r>
            <a:r>
              <a:rPr lang="en-US" sz="1500" b="1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500" b="1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recuccion</a:t>
            </a:r>
            <a:r>
              <a:rPr lang="en-US" sz="1500" b="1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500" b="1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dimensionalidad</a:t>
            </a:r>
            <a:r>
              <a:rPr lang="en-US" sz="1500" b="1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(PCA): </a:t>
            </a:r>
            <a:r>
              <a:rPr lang="en-US" sz="1500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Dificultad</a:t>
            </a:r>
            <a:r>
              <a:rPr lang="en-US" sz="1500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para </a:t>
            </a:r>
            <a:r>
              <a:rPr lang="en-US" sz="1500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digerir</a:t>
            </a:r>
            <a:r>
              <a:rPr lang="en-US" sz="1500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el</a:t>
            </a:r>
            <a:r>
              <a:rPr lang="en-US" sz="1500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funcionamiento</a:t>
            </a:r>
            <a:r>
              <a:rPr lang="en-US" sz="1500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del </a:t>
            </a:r>
            <a:r>
              <a:rPr lang="en-US" sz="1500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algoritmo</a:t>
            </a:r>
            <a:r>
              <a:rPr lang="en-US" sz="1500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, se </a:t>
            </a:r>
            <a:r>
              <a:rPr lang="en-US" sz="1500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soluciono</a:t>
            </a:r>
            <a:r>
              <a:rPr lang="en-US" sz="1500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investigando</a:t>
            </a:r>
            <a:r>
              <a:rPr lang="en-US" sz="1500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mas </a:t>
            </a:r>
            <a:r>
              <a:rPr lang="en-US" sz="1500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sobre</a:t>
            </a:r>
            <a:r>
              <a:rPr lang="en-US" sz="1500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el</a:t>
            </a:r>
            <a:r>
              <a:rPr lang="en-US" sz="1500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tema</a:t>
            </a:r>
            <a:r>
              <a:rPr lang="en-US" sz="1500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en</a:t>
            </a:r>
            <a:r>
              <a:rPr lang="en-US" sz="1500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diversas</a:t>
            </a:r>
            <a:r>
              <a:rPr lang="en-US" sz="1500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fuentes</a:t>
            </a:r>
            <a:endParaRPr dirty="0"/>
          </a:p>
        </p:txBody>
      </p:sp>
      <p:sp>
        <p:nvSpPr>
          <p:cNvPr id="243" name="Google Shape;243;p23"/>
          <p:cNvSpPr txBox="1"/>
          <p:nvPr/>
        </p:nvSpPr>
        <p:spPr>
          <a:xfrm>
            <a:off x="962025" y="3900487"/>
            <a:ext cx="1064895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Complejidad</a:t>
            </a:r>
            <a:r>
              <a:rPr lang="en-US" sz="15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del </a:t>
            </a:r>
            <a:r>
              <a:rPr lang="en-US" sz="1500" b="1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RegEx</a:t>
            </a:r>
            <a:r>
              <a:rPr lang="en-US" sz="15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: </a:t>
            </a:r>
            <a:r>
              <a:rPr lang="en-US" sz="1500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Dificultqad</a:t>
            </a:r>
            <a:r>
              <a:rPr lang="en-US" sz="1500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en</a:t>
            </a:r>
            <a:r>
              <a:rPr lang="en-US" sz="1500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el</a:t>
            </a:r>
            <a:r>
              <a:rPr lang="en-US" sz="150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Refinamiento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patrones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para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capturar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diversos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códigos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estado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HTTP y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tiempos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respuesta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en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milisegundos</a:t>
            </a:r>
            <a:r>
              <a:rPr lang="en-US" sz="1500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, se </a:t>
            </a:r>
            <a:r>
              <a:rPr lang="en-US" sz="1500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soluciono</a:t>
            </a:r>
            <a:r>
              <a:rPr lang="en-US" sz="1500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con un poco de </a:t>
            </a:r>
            <a:r>
              <a:rPr lang="en-US" sz="1500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pruebas</a:t>
            </a:r>
            <a:r>
              <a:rPr lang="en-US" sz="1500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e </a:t>
            </a:r>
            <a:r>
              <a:rPr lang="en-US" sz="1500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investigacion</a:t>
            </a:r>
            <a:r>
              <a:rPr lang="en-US" sz="1500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. </a:t>
            </a:r>
            <a:endParaRPr dirty="0"/>
          </a:p>
        </p:txBody>
      </p:sp>
      <p:sp>
        <p:nvSpPr>
          <p:cNvPr id="244" name="Google Shape;244;p23"/>
          <p:cNvSpPr txBox="1"/>
          <p:nvPr/>
        </p:nvSpPr>
        <p:spPr>
          <a:xfrm>
            <a:off x="962025" y="4710112"/>
            <a:ext cx="1064895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Graficacion</a:t>
            </a:r>
            <a:r>
              <a:rPr lang="en-US" sz="1500" b="1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500" b="1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resultados</a:t>
            </a:r>
            <a:r>
              <a:rPr lang="en-US" sz="15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: </a:t>
            </a:r>
            <a:r>
              <a:rPr lang="en-US" sz="1500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Dificil</a:t>
            </a:r>
            <a:r>
              <a:rPr lang="en-US" sz="1500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a la hora de </a:t>
            </a:r>
            <a:r>
              <a:rPr lang="en-US" sz="1500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entender</a:t>
            </a:r>
            <a:r>
              <a:rPr lang="en-US" sz="1500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los</a:t>
            </a:r>
            <a:r>
              <a:rPr lang="en-US" sz="1500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atributos</a:t>
            </a:r>
            <a:r>
              <a:rPr lang="en-US" sz="1500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y </a:t>
            </a:r>
            <a:r>
              <a:rPr lang="en-US" sz="1500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uso</a:t>
            </a:r>
            <a:r>
              <a:rPr lang="en-US" sz="1500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500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cada</a:t>
            </a:r>
            <a:r>
              <a:rPr lang="en-US" sz="1500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una</a:t>
            </a:r>
            <a:r>
              <a:rPr lang="en-US" sz="1500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de las </a:t>
            </a:r>
            <a:r>
              <a:rPr lang="en-US" sz="1500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funciones</a:t>
            </a:r>
            <a:r>
              <a:rPr lang="en-US" sz="1500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de las </a:t>
            </a:r>
            <a:r>
              <a:rPr lang="en-US" sz="1500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librerias</a:t>
            </a:r>
            <a:r>
              <a:rPr lang="en-US" sz="1500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destinadas</a:t>
            </a:r>
            <a:r>
              <a:rPr lang="en-US" sz="1500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para </a:t>
            </a:r>
            <a:r>
              <a:rPr lang="en-US" sz="1500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graficacion</a:t>
            </a:r>
            <a:r>
              <a:rPr lang="en-US" sz="1500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, </a:t>
            </a:r>
            <a:r>
              <a:rPr lang="en-US" sz="1500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su</a:t>
            </a:r>
            <a:r>
              <a:rPr lang="en-US" sz="1500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sulucion</a:t>
            </a:r>
            <a:r>
              <a:rPr lang="en-US" sz="1500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fue</a:t>
            </a:r>
            <a:r>
              <a:rPr lang="en-US" sz="1500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a base de </a:t>
            </a:r>
            <a:r>
              <a:rPr lang="en-US" sz="1500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prueba</a:t>
            </a:r>
            <a:r>
              <a:rPr lang="en-US" sz="1500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y error e </a:t>
            </a:r>
            <a:r>
              <a:rPr lang="en-US" sz="1500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investigando</a:t>
            </a:r>
            <a:r>
              <a:rPr lang="en-US" sz="1500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el</a:t>
            </a:r>
            <a:r>
              <a:rPr lang="en-US" sz="1500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fucnionamiento</a:t>
            </a:r>
            <a:r>
              <a:rPr lang="en-US" sz="1500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500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cada</a:t>
            </a:r>
            <a:r>
              <a:rPr lang="en-US" sz="1500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una</a:t>
            </a:r>
            <a:r>
              <a:rPr lang="en-US" sz="1500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/>
          </a:p>
        </p:txBody>
      </p:sp>
      <p:pic>
        <p:nvPicPr>
          <p:cNvPr id="245" name="Google Shape;245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29076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Google Shape;246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309086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390048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3532" y="4879419"/>
            <a:ext cx="190500" cy="200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395</TotalTime>
  <Words>604</Words>
  <Application>Microsoft Office PowerPoint</Application>
  <PresentationFormat>Panorámica</PresentationFormat>
  <Paragraphs>64</Paragraphs>
  <Slides>10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5" baseType="lpstr">
      <vt:lpstr>Urbanist SemiBold</vt:lpstr>
      <vt:lpstr>Arial</vt:lpstr>
      <vt:lpstr>Urbanist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PC</dc:creator>
  <cp:lastModifiedBy>Sebastian Manjarrez morales</cp:lastModifiedBy>
  <cp:revision>3</cp:revision>
  <dcterms:modified xsi:type="dcterms:W3CDTF">2026-05-15T02:41:46Z</dcterms:modified>
</cp:coreProperties>
</file>